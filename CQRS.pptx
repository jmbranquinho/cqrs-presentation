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4"/>
  </p:sldMasterIdLst>
  <p:notesMasterIdLst>
    <p:notesMasterId r:id="rId20"/>
  </p:notesMasterIdLst>
  <p:handoutMasterIdLst>
    <p:handoutMasterId r:id="rId21"/>
  </p:handoutMasterIdLst>
  <p:sldIdLst>
    <p:sldId id="1519" r:id="rId5"/>
    <p:sldId id="1520" r:id="rId6"/>
    <p:sldId id="1529" r:id="rId7"/>
    <p:sldId id="1527" r:id="rId8"/>
    <p:sldId id="1521" r:id="rId9"/>
    <p:sldId id="1523" r:id="rId10"/>
    <p:sldId id="1530" r:id="rId11"/>
    <p:sldId id="1531" r:id="rId12"/>
    <p:sldId id="1532" r:id="rId13"/>
    <p:sldId id="1526" r:id="rId14"/>
    <p:sldId id="1525" r:id="rId15"/>
    <p:sldId id="1524" r:id="rId16"/>
    <p:sldId id="1533" r:id="rId17"/>
    <p:sldId id="1534" r:id="rId18"/>
    <p:sldId id="153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18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4527-72B3-6418-F402-91733F28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99D4C-6C65-2E57-12C3-45F5B3B59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B38E1-BF27-2F30-D50B-542321D5E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controller (</a:t>
            </a:r>
            <a:r>
              <a:rPr lang="en-US" dirty="0" err="1"/>
              <a:t>BuyProduct</a:t>
            </a:r>
            <a:r>
              <a:rPr lang="en-US" dirty="0"/>
              <a:t>) =&gt;</a:t>
            </a:r>
            <a:r>
              <a:rPr lang="en-US" dirty="0" err="1"/>
              <a:t>CustomerService</a:t>
            </a:r>
            <a:r>
              <a:rPr lang="en-US" dirty="0"/>
              <a:t> (</a:t>
            </a:r>
            <a:r>
              <a:rPr lang="en-US" dirty="0" err="1"/>
              <a:t>RegisterPurchase</a:t>
            </a:r>
            <a:r>
              <a:rPr lang="en-US" dirty="0"/>
              <a:t>) =&gt; </a:t>
            </a:r>
            <a:r>
              <a:rPr lang="en-US" dirty="0" err="1"/>
              <a:t>PaymentService</a:t>
            </a:r>
            <a:r>
              <a:rPr lang="en-US" dirty="0"/>
              <a:t> (</a:t>
            </a:r>
            <a:r>
              <a:rPr lang="en-US" dirty="0" err="1"/>
              <a:t>ProcessPayment</a:t>
            </a:r>
            <a:r>
              <a:rPr lang="en-US" dirty="0"/>
              <a:t>) =&gt; </a:t>
            </a:r>
            <a:r>
              <a:rPr lang="en-US" dirty="0" err="1"/>
              <a:t>ProductOrderService</a:t>
            </a:r>
            <a:r>
              <a:rPr lang="en-US" dirty="0"/>
              <a:t> (</a:t>
            </a:r>
            <a:r>
              <a:rPr lang="en-US" dirty="0" err="1"/>
              <a:t>ProcessOrder</a:t>
            </a:r>
            <a:r>
              <a:rPr lang="en-US" dirty="0"/>
              <a:t>) =&gt;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71975-80A9-5F20-8D86-A8DE72ECC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06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F7CC9-D0CB-CA3B-340E-478AA0AD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FCA4B-0A7D-2F9E-3DFF-65C4901CB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CE19B-7ACB-5808-6BB6-141069EB0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Analogy: the kitchen is where the food is prepared according to the rules and the process. The menu is what the customers use to see what is available.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4CED1-BD65-C8B4-E8B2-16B5D39EB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27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12AB-5EFF-3904-2603-157EED2D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77B6F-ACD7-842B-6FAC-FD6A9DFD8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4AA5A-1453-4F29-C785-F066EDD7D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31C8C-76AD-36D0-EBD9-D271D4AE8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58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5398-5019-C47A-A212-A8C7D03D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F45AB-4F7C-F492-483D-F4C02253F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C2CBE-AB99-F373-D0B1-072753AB0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6102-43F4-2088-085B-4F451B755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8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07107-B033-479C-B046-6D2DC339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A0195-A8BE-8664-AE07-24F0D0EA3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3CAEF-44C2-8FB2-A608-4B494217B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 controller (</a:t>
            </a:r>
            <a:r>
              <a:rPr lang="en-US" dirty="0" err="1"/>
              <a:t>BuyProduct</a:t>
            </a:r>
            <a:r>
              <a:rPr lang="en-US" dirty="0"/>
              <a:t>) =&gt;</a:t>
            </a:r>
            <a:r>
              <a:rPr lang="en-US" dirty="0" err="1"/>
              <a:t>RegisterPurchaseCommand</a:t>
            </a:r>
            <a:r>
              <a:rPr lang="en-US" dirty="0"/>
              <a:t> (raise events to </a:t>
            </a:r>
            <a:r>
              <a:rPr lang="en-US" dirty="0" err="1"/>
              <a:t>processpayment</a:t>
            </a:r>
            <a:r>
              <a:rPr lang="en-US" dirty="0"/>
              <a:t>) =&gt;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D8A6-8975-E65F-41E3-81D4E7DF1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131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CC8A6-604F-4CF4-ADF9-8DF8A76E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C433E-4DDD-EC13-944C-55C962AD7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6BD31-D1FC-F246-480E-59C3EE490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 controller (</a:t>
            </a:r>
            <a:r>
              <a:rPr lang="en-US" dirty="0" err="1"/>
              <a:t>BuyProduct</a:t>
            </a:r>
            <a:r>
              <a:rPr lang="en-US" dirty="0"/>
              <a:t>) =&gt;</a:t>
            </a:r>
            <a:r>
              <a:rPr lang="en-US" dirty="0" err="1"/>
              <a:t>RegisterPurchaseCommand</a:t>
            </a:r>
            <a:r>
              <a:rPr lang="en-US" dirty="0"/>
              <a:t> (raise events to </a:t>
            </a:r>
            <a:r>
              <a:rPr lang="en-US" dirty="0" err="1"/>
              <a:t>processpayment</a:t>
            </a:r>
            <a:r>
              <a:rPr lang="en-US" dirty="0"/>
              <a:t>) =&gt;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BF594-5A56-07E1-B3F2-A5927EED8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974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D6468-91A3-825B-224B-1C64A2FE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9385F-5C02-68E7-7E38-CBC3F26F4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EC21C-5FF0-286B-1031-7F7C36CBA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 controller (</a:t>
            </a:r>
            <a:r>
              <a:rPr lang="en-US" dirty="0" err="1"/>
              <a:t>BuyProduct</a:t>
            </a:r>
            <a:r>
              <a:rPr lang="en-US" dirty="0"/>
              <a:t>) =&gt;</a:t>
            </a:r>
            <a:r>
              <a:rPr lang="en-US" dirty="0" err="1"/>
              <a:t>RegisterPurchaseCommand</a:t>
            </a:r>
            <a:r>
              <a:rPr lang="en-US" dirty="0"/>
              <a:t> (raise events to </a:t>
            </a:r>
            <a:r>
              <a:rPr lang="en-US" dirty="0" err="1"/>
              <a:t>processpayment</a:t>
            </a:r>
            <a:r>
              <a:rPr lang="en-US" dirty="0"/>
              <a:t>) =&gt;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22C3D-6843-2804-9BCB-77EB1B788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513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09CF1-B215-7421-4106-B1A160E0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38120-2185-C48E-0601-47836C377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21527-7D16-2B9A-C527-F38C729AD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62AF8-48D2-FB4A-4AD1-3A5AD7074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797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7B80-DBBD-0A46-B363-48429416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2150D-2F99-E64C-8645-9B9A9BE2F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4A706-79EB-89D0-EAE2-8B016B277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be used when the pros </a:t>
            </a:r>
            <a:r>
              <a:rPr lang="en-US" dirty="0" err="1"/>
              <a:t>outwheight</a:t>
            </a:r>
            <a:r>
              <a:rPr lang="en-US" dirty="0"/>
              <a:t> the 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B62EB-3290-1A72-DCE2-028EE614D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365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A4FC-A421-034B-6517-B45C4321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ED901-1B68-EB54-7BD8-103817687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38C94-E53C-7EED-EFE1-8A4600551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be used when the pros </a:t>
            </a:r>
            <a:r>
              <a:rPr lang="en-US" dirty="0" err="1"/>
              <a:t>outwheight</a:t>
            </a:r>
            <a:r>
              <a:rPr lang="en-US" dirty="0"/>
              <a:t> the 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9B8BD-75E6-10C0-85C7-C33357BA1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8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364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394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14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314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8311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9DF99-DDC2-894B-B2EC-BE93B405C6CB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3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AAE6-D11F-2F46-A437-EC693200CDD7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8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5903C-EDC1-ED4F-958F-69690339160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1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C713B-25C9-B74A-9BBC-A695A5E98312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9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257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426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7372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00131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853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819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831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81561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07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71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0E5A07-4FDA-D34C-BE60-17876FEEBAA5}" type="datetime1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4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  <p:sldLayoutId id="2147484014" r:id="rId18"/>
    <p:sldLayoutId id="2147484015" r:id="rId19"/>
    <p:sldLayoutId id="2147483788" r:id="rId20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8960" y="1122363"/>
            <a:ext cx="7559039" cy="302736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000" u="none" dirty="0">
                <a:solidFill>
                  <a:schemeClr val="tx1"/>
                </a:solidFill>
              </a:rPr>
              <a:t>Improve </a:t>
            </a:r>
            <a:br>
              <a:rPr lang="en-US" sz="5000" u="none" dirty="0">
                <a:solidFill>
                  <a:schemeClr val="tx1"/>
                </a:solidFill>
              </a:rPr>
            </a:br>
            <a:r>
              <a:rPr lang="en-US" sz="5000" u="none" dirty="0">
                <a:solidFill>
                  <a:schemeClr val="tx1"/>
                </a:solidFill>
              </a:rPr>
              <a:t>your application scalability with </a:t>
            </a:r>
            <a:br>
              <a:rPr lang="en-US" sz="5000" dirty="0">
                <a:solidFill>
                  <a:schemeClr val="tx1"/>
                </a:solidFill>
              </a:rPr>
            </a:br>
            <a:r>
              <a:rPr lang="en-US" sz="5000" dirty="0">
                <a:solidFill>
                  <a:schemeClr val="tx1"/>
                </a:solidFill>
              </a:rPr>
              <a:t>CQRS and events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E37C8C-B9EB-77D8-9402-9E66A29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8010" y="4149724"/>
            <a:ext cx="7539989" cy="110807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endParaRPr lang="en-US" sz="2400" cap="all" dirty="0">
              <a:solidFill>
                <a:schemeClr val="tx1"/>
              </a:solidFill>
              <a:latin typeface="+mn-lt"/>
            </a:endParaRPr>
          </a:p>
          <a:p>
            <a:pPr algn="l"/>
            <a:r>
              <a:rPr lang="en-US" sz="2400" cap="all" dirty="0">
                <a:solidFill>
                  <a:schemeClr val="tx1"/>
                </a:solidFill>
                <a:latin typeface="+mn-lt"/>
              </a:rPr>
              <a:t>Jorge Branquinho</a:t>
            </a: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696F32A-88D4-6436-E2A9-5642B89F27D2}"/>
              </a:ext>
            </a:extLst>
          </p:cNvPr>
          <p:cNvSpPr txBox="1"/>
          <p:nvPr/>
        </p:nvSpPr>
        <p:spPr>
          <a:xfrm>
            <a:off x="1280160" y="630936"/>
            <a:ext cx="102080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CRUD</a:t>
            </a:r>
            <a:endParaRPr lang="en-US" sz="2000" u="sng" dirty="0"/>
          </a:p>
          <a:p>
            <a:endParaRPr lang="en-US" dirty="0"/>
          </a:p>
          <a:p>
            <a:r>
              <a:rPr lang="en-US" dirty="0"/>
              <a:t>	- simple and intuitive design</a:t>
            </a:r>
          </a:p>
          <a:p>
            <a:r>
              <a:rPr lang="en-US" dirty="0"/>
              <a:t>	- low development cost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18AF-DC6C-7EC3-C78B-774D1B94B942}"/>
              </a:ext>
            </a:extLst>
          </p:cNvPr>
          <p:cNvSpPr/>
          <p:nvPr/>
        </p:nvSpPr>
        <p:spPr>
          <a:xfrm>
            <a:off x="1639460" y="2991195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Controller</a:t>
            </a:r>
            <a:endParaRPr lang="en-GB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966E5C8-1018-ABBC-0BBC-240E714C248F}"/>
              </a:ext>
            </a:extLst>
          </p:cNvPr>
          <p:cNvSpPr/>
          <p:nvPr/>
        </p:nvSpPr>
        <p:spPr>
          <a:xfrm>
            <a:off x="3763821" y="3379491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A90CB0-B798-B6A1-F20F-12CBCA219D1E}"/>
              </a:ext>
            </a:extLst>
          </p:cNvPr>
          <p:cNvSpPr/>
          <p:nvPr/>
        </p:nvSpPr>
        <p:spPr>
          <a:xfrm>
            <a:off x="5029667" y="2991194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Service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C25FAD-881C-A26D-3D62-C5B8D5A18AFC}"/>
              </a:ext>
            </a:extLst>
          </p:cNvPr>
          <p:cNvSpPr/>
          <p:nvPr/>
        </p:nvSpPr>
        <p:spPr>
          <a:xfrm>
            <a:off x="8541794" y="299119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Repository</a:t>
            </a:r>
            <a:endParaRPr lang="en-GB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43FCDE9-C12B-CC7A-6683-8B86DA740B15}"/>
              </a:ext>
            </a:extLst>
          </p:cNvPr>
          <p:cNvSpPr/>
          <p:nvPr/>
        </p:nvSpPr>
        <p:spPr>
          <a:xfrm>
            <a:off x="7211759" y="3429000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46EC4-140D-FD43-40DC-B90E949D1759}"/>
              </a:ext>
            </a:extLst>
          </p:cNvPr>
          <p:cNvSpPr txBox="1"/>
          <p:nvPr/>
        </p:nvSpPr>
        <p:spPr>
          <a:xfrm>
            <a:off x="1615327" y="420631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OrdersController</a:t>
            </a:r>
            <a:r>
              <a:rPr lang="en-US" sz="1000" dirty="0"/>
              <a:t> &gt; </a:t>
            </a:r>
            <a:r>
              <a:rPr lang="en-US" sz="1000" dirty="0" err="1"/>
              <a:t>BuyProduct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697B6-8913-487A-C601-23CB61AB2F63}"/>
              </a:ext>
            </a:extLst>
          </p:cNvPr>
          <p:cNvSpPr txBox="1"/>
          <p:nvPr/>
        </p:nvSpPr>
        <p:spPr>
          <a:xfrm>
            <a:off x="5029667" y="420631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OrderService</a:t>
            </a:r>
            <a:r>
              <a:rPr lang="en-US" sz="1000" dirty="0"/>
              <a:t> &gt; </a:t>
            </a:r>
            <a:r>
              <a:rPr lang="en-US" sz="1000" dirty="0" err="1"/>
              <a:t>BuyProduct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83EADB-40F4-E889-70A2-446E707938D7}"/>
              </a:ext>
            </a:extLst>
          </p:cNvPr>
          <p:cNvSpPr txBox="1"/>
          <p:nvPr/>
        </p:nvSpPr>
        <p:spPr>
          <a:xfrm>
            <a:off x="8541794" y="4224616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OrderRepository</a:t>
            </a:r>
            <a:r>
              <a:rPr lang="en-US" sz="1000" dirty="0"/>
              <a:t> &gt; </a:t>
            </a:r>
            <a:r>
              <a:rPr lang="en-US" sz="1000" dirty="0" err="1"/>
              <a:t>AddOrder</a:t>
            </a:r>
            <a:r>
              <a:rPr lang="en-US" sz="1000" dirty="0"/>
              <a:t>(…)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DDD25-1777-4032-B815-E9361468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D55D01F-6948-7023-4AF4-46F62DFAF2C6}"/>
              </a:ext>
            </a:extLst>
          </p:cNvPr>
          <p:cNvSpPr txBox="1"/>
          <p:nvPr/>
        </p:nvSpPr>
        <p:spPr>
          <a:xfrm>
            <a:off x="1280160" y="630936"/>
            <a:ext cx="10208029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CRUD</a:t>
            </a:r>
            <a:endParaRPr lang="en-US" sz="2000" u="sng" dirty="0"/>
          </a:p>
          <a:p>
            <a:endParaRPr lang="en-US" dirty="0"/>
          </a:p>
          <a:p>
            <a:r>
              <a:rPr lang="en-US" dirty="0"/>
              <a:t>	- But can quickly become complex and difficult to manage all the services</a:t>
            </a:r>
          </a:p>
          <a:p>
            <a:r>
              <a:rPr lang="en-US" dirty="0"/>
              <a:t>		- Examples: circular dependencies, too much logic on a single service, too many people changing 		   the same file at the same time,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A082D5-DEB7-BF43-B880-C67DD7E4CC9B}"/>
              </a:ext>
            </a:extLst>
          </p:cNvPr>
          <p:cNvSpPr/>
          <p:nvPr/>
        </p:nvSpPr>
        <p:spPr>
          <a:xfrm>
            <a:off x="1639460" y="2991195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Controller</a:t>
            </a:r>
            <a:endParaRPr lang="en-GB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F9F5BEE-E5BF-0BFF-DA35-87DCE161066D}"/>
              </a:ext>
            </a:extLst>
          </p:cNvPr>
          <p:cNvSpPr/>
          <p:nvPr/>
        </p:nvSpPr>
        <p:spPr>
          <a:xfrm>
            <a:off x="3763821" y="3379491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27FFD2-19E7-2307-98BB-504ACA712C38}"/>
              </a:ext>
            </a:extLst>
          </p:cNvPr>
          <p:cNvSpPr/>
          <p:nvPr/>
        </p:nvSpPr>
        <p:spPr>
          <a:xfrm>
            <a:off x="5029667" y="2991194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Service A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BE6A0F-A660-B618-7811-7227A1D48720}"/>
              </a:ext>
            </a:extLst>
          </p:cNvPr>
          <p:cNvSpPr/>
          <p:nvPr/>
        </p:nvSpPr>
        <p:spPr>
          <a:xfrm>
            <a:off x="8541794" y="299119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Repository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E7D874-8A7A-0CB4-DA9E-DBE845290E95}"/>
              </a:ext>
            </a:extLst>
          </p:cNvPr>
          <p:cNvSpPr/>
          <p:nvPr/>
        </p:nvSpPr>
        <p:spPr>
          <a:xfrm>
            <a:off x="3462252" y="505002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Service B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D9067-2F19-E7F4-AD3F-EFA6A063C3EC}"/>
              </a:ext>
            </a:extLst>
          </p:cNvPr>
          <p:cNvSpPr/>
          <p:nvPr/>
        </p:nvSpPr>
        <p:spPr>
          <a:xfrm>
            <a:off x="6852459" y="5050022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Service C</a:t>
            </a:r>
            <a:endParaRPr lang="en-GB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4BB0214-143F-3A7E-42FC-D8269DDC5798}"/>
              </a:ext>
            </a:extLst>
          </p:cNvPr>
          <p:cNvSpPr/>
          <p:nvPr/>
        </p:nvSpPr>
        <p:spPr>
          <a:xfrm rot="8430841">
            <a:off x="4728098" y="4446126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8FB1F52-42AC-2BB6-4EE9-D3959079D0C1}"/>
              </a:ext>
            </a:extLst>
          </p:cNvPr>
          <p:cNvSpPr/>
          <p:nvPr/>
        </p:nvSpPr>
        <p:spPr>
          <a:xfrm>
            <a:off x="5613861" y="5525598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CD427618-301C-30A4-3A93-3AFDE999F482}"/>
              </a:ext>
            </a:extLst>
          </p:cNvPr>
          <p:cNvSpPr/>
          <p:nvPr/>
        </p:nvSpPr>
        <p:spPr>
          <a:xfrm rot="8597076">
            <a:off x="5986877" y="4257409"/>
            <a:ext cx="440331" cy="1203897"/>
          </a:xfrm>
          <a:prstGeom prst="curvedLeftArrow">
            <a:avLst>
              <a:gd name="adj1" fmla="val 25000"/>
              <a:gd name="adj2" fmla="val 58435"/>
              <a:gd name="adj3" fmla="val 25000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B6BFF-29B4-3019-EECA-B5502D30E4A9}"/>
              </a:ext>
            </a:extLst>
          </p:cNvPr>
          <p:cNvSpPr/>
          <p:nvPr/>
        </p:nvSpPr>
        <p:spPr>
          <a:xfrm>
            <a:off x="611298" y="5043500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&lt;Domain&gt;</a:t>
            </a:r>
            <a:br>
              <a:rPr lang="en-US" dirty="0"/>
            </a:br>
            <a:r>
              <a:rPr lang="en-US" dirty="0"/>
              <a:t>Service</a:t>
            </a:r>
            <a:endParaRPr lang="en-GB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126ACC3-2C68-720B-806F-253349682C6D}"/>
              </a:ext>
            </a:extLst>
          </p:cNvPr>
          <p:cNvSpPr/>
          <p:nvPr/>
        </p:nvSpPr>
        <p:spPr>
          <a:xfrm rot="10800000">
            <a:off x="2466032" y="5469018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9EC2F1D-E530-EE74-9D0E-020263B34B4A}"/>
              </a:ext>
            </a:extLst>
          </p:cNvPr>
          <p:cNvSpPr/>
          <p:nvPr/>
        </p:nvSpPr>
        <p:spPr>
          <a:xfrm rot="9528442">
            <a:off x="2725526" y="4451997"/>
            <a:ext cx="2069951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A52DE-2B6B-D5F2-E9E0-B63E1E20718F}"/>
              </a:ext>
            </a:extLst>
          </p:cNvPr>
          <p:cNvSpPr txBox="1"/>
          <p:nvPr/>
        </p:nvSpPr>
        <p:spPr>
          <a:xfrm>
            <a:off x="1615327" y="420631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OrdersController</a:t>
            </a:r>
            <a:r>
              <a:rPr lang="en-US" sz="1000" dirty="0"/>
              <a:t> &gt; </a:t>
            </a:r>
            <a:r>
              <a:rPr lang="en-US" sz="1000" dirty="0" err="1"/>
              <a:t>BuyProduct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E4124-3018-F254-D5AF-81D43C5CB4E2}"/>
              </a:ext>
            </a:extLst>
          </p:cNvPr>
          <p:cNvSpPr txBox="1"/>
          <p:nvPr/>
        </p:nvSpPr>
        <p:spPr>
          <a:xfrm>
            <a:off x="8541794" y="4224616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OrderRepository</a:t>
            </a:r>
            <a:r>
              <a:rPr lang="en-US" sz="1000" dirty="0"/>
              <a:t> &gt; </a:t>
            </a:r>
            <a:r>
              <a:rPr lang="en-US" sz="1000" dirty="0" err="1"/>
              <a:t>AddOrder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7F76A-226B-A8E2-909B-FC8F8E901DED}"/>
              </a:ext>
            </a:extLst>
          </p:cNvPr>
          <p:cNvSpPr txBox="1"/>
          <p:nvPr/>
        </p:nvSpPr>
        <p:spPr>
          <a:xfrm>
            <a:off x="5029667" y="420631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OrderService</a:t>
            </a:r>
            <a:r>
              <a:rPr lang="en-US" sz="1000" dirty="0"/>
              <a:t> &gt; </a:t>
            </a:r>
            <a:r>
              <a:rPr lang="en-US" sz="1000" dirty="0" err="1"/>
              <a:t>BuyProduct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EDE4E4-8691-2BDE-13CD-3193DC63FD67}"/>
              </a:ext>
            </a:extLst>
          </p:cNvPr>
          <p:cNvSpPr txBox="1"/>
          <p:nvPr/>
        </p:nvSpPr>
        <p:spPr>
          <a:xfrm>
            <a:off x="3219571" y="6243771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PaymentService</a:t>
            </a:r>
            <a:r>
              <a:rPr lang="en-US" sz="1000" dirty="0"/>
              <a:t> &gt; </a:t>
            </a:r>
            <a:r>
              <a:rPr lang="en-US" sz="1000" dirty="0" err="1"/>
              <a:t>ProcessPayment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EC756-6EE9-4BDE-3297-5FD046A056C5}"/>
              </a:ext>
            </a:extLst>
          </p:cNvPr>
          <p:cNvSpPr txBox="1"/>
          <p:nvPr/>
        </p:nvSpPr>
        <p:spPr>
          <a:xfrm>
            <a:off x="485799" y="6260660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</a:rPr>
              <a:t>IdentityService</a:t>
            </a:r>
            <a:r>
              <a:rPr lang="en-US" sz="1000" dirty="0">
                <a:solidFill>
                  <a:schemeClr val="bg1"/>
                </a:solidFill>
              </a:rPr>
              <a:t> &gt;</a:t>
            </a:r>
            <a:r>
              <a:rPr lang="en-US" sz="1000" dirty="0"/>
              <a:t> </a:t>
            </a:r>
            <a:r>
              <a:rPr lang="en-US" sz="1000" dirty="0" err="1"/>
              <a:t>GetUserDetails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BD3EA6C-BF7A-35A2-B377-376B18216FFE}"/>
              </a:ext>
            </a:extLst>
          </p:cNvPr>
          <p:cNvSpPr/>
          <p:nvPr/>
        </p:nvSpPr>
        <p:spPr>
          <a:xfrm>
            <a:off x="7211759" y="3429000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D70093-5F98-0665-3123-62689F149F88}"/>
              </a:ext>
            </a:extLst>
          </p:cNvPr>
          <p:cNvSpPr txBox="1"/>
          <p:nvPr/>
        </p:nvSpPr>
        <p:spPr>
          <a:xfrm>
            <a:off x="6743400" y="6260659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FraudDetectionService</a:t>
            </a:r>
            <a:r>
              <a:rPr lang="en-US" sz="1000" dirty="0"/>
              <a:t> &gt; </a:t>
            </a:r>
            <a:r>
              <a:rPr lang="en-US" sz="1000" dirty="0" err="1"/>
              <a:t>CheckoutOrder</a:t>
            </a:r>
            <a:r>
              <a:rPr lang="en-US" sz="1000" dirty="0"/>
              <a:t>(…)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919224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651F-0910-9267-E795-A66B93C3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AAF5D25-BC0F-B10F-2D52-DFFB1965A579}"/>
              </a:ext>
            </a:extLst>
          </p:cNvPr>
          <p:cNvSpPr txBox="1"/>
          <p:nvPr/>
        </p:nvSpPr>
        <p:spPr>
          <a:xfrm>
            <a:off x="1280160" y="630936"/>
            <a:ext cx="1020802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/>
              <a:t>ommand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000" dirty="0"/>
              <a:t>uery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dirty="0"/>
              <a:t>esponsibility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/>
              <a:t>egregation – </a:t>
            </a:r>
            <a:r>
              <a:rPr lang="en-US" sz="2000" u="sng" dirty="0"/>
              <a:t>What is it?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It is a design pattern where you separate operations that change data from operations that read data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 goal is separation of responsibilities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18109D-53A5-0C7E-EB85-B091DB63CDB1}"/>
              </a:ext>
            </a:extLst>
          </p:cNvPr>
          <p:cNvGrpSpPr/>
          <p:nvPr/>
        </p:nvGrpSpPr>
        <p:grpSpPr>
          <a:xfrm>
            <a:off x="2136372" y="3046982"/>
            <a:ext cx="2493818" cy="2169623"/>
            <a:chOff x="2078182" y="2165465"/>
            <a:chExt cx="2493818" cy="21696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7EA8277-A7E0-86FC-BBBE-1751238279C7}"/>
                </a:ext>
              </a:extLst>
            </p:cNvPr>
            <p:cNvSpPr/>
            <p:nvPr/>
          </p:nvSpPr>
          <p:spPr>
            <a:xfrm>
              <a:off x="2078182" y="2647604"/>
              <a:ext cx="2493818" cy="168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en-US" dirty="0" err="1"/>
                <a:t>GetCustomerById</a:t>
              </a:r>
              <a:endParaRPr lang="en-US" dirty="0"/>
            </a:p>
            <a:p>
              <a:pPr marL="285750" indent="-285750">
                <a:buFontTx/>
                <a:buChar char="-"/>
              </a:pPr>
              <a:r>
                <a:rPr lang="en-US" dirty="0" err="1"/>
                <a:t>GetAllCustomers</a:t>
              </a:r>
              <a:endParaRPr lang="en-US" dirty="0"/>
            </a:p>
            <a:p>
              <a:pPr marL="285750" indent="-285750">
                <a:buFontTx/>
                <a:buChar char="-"/>
              </a:pPr>
              <a:r>
                <a:rPr lang="en-US" dirty="0" err="1"/>
                <a:t>AddNewCustomer</a:t>
              </a:r>
              <a:endParaRPr lang="en-US" dirty="0"/>
            </a:p>
            <a:p>
              <a:pPr marL="285750" indent="-285750">
                <a:buFontTx/>
                <a:buChar char="-"/>
              </a:pPr>
              <a:r>
                <a:rPr lang="en-US" dirty="0" err="1"/>
                <a:t>DeleteCustomerById</a:t>
              </a:r>
              <a:endParaRPr lang="en-GB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960BF4-53E1-8732-A60A-CB78D18A99ED}"/>
                </a:ext>
              </a:extLst>
            </p:cNvPr>
            <p:cNvSpPr/>
            <p:nvPr/>
          </p:nvSpPr>
          <p:spPr>
            <a:xfrm>
              <a:off x="2078182" y="2165465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CustomerService</a:t>
              </a:r>
              <a:endParaRPr lang="en-GB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94ABEA-D7B2-A8B3-CC17-3E38EB3ED11E}"/>
              </a:ext>
            </a:extLst>
          </p:cNvPr>
          <p:cNvSpPr txBox="1"/>
          <p:nvPr/>
        </p:nvSpPr>
        <p:spPr>
          <a:xfrm>
            <a:off x="2136372" y="2621247"/>
            <a:ext cx="21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Traditional system</a:t>
            </a:r>
            <a:endParaRPr lang="en-GB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DE16D1B4-B660-ABE9-7763-E029C7BCA742}"/>
              </a:ext>
            </a:extLst>
          </p:cNvPr>
          <p:cNvSpPr/>
          <p:nvPr/>
        </p:nvSpPr>
        <p:spPr>
          <a:xfrm>
            <a:off x="4929447" y="4183054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7F4911-0D43-66E5-5AE5-1984040F0AE3}"/>
              </a:ext>
            </a:extLst>
          </p:cNvPr>
          <p:cNvGrpSpPr/>
          <p:nvPr/>
        </p:nvGrpSpPr>
        <p:grpSpPr>
          <a:xfrm>
            <a:off x="6252557" y="2624024"/>
            <a:ext cx="6138255" cy="3206646"/>
            <a:chOff x="6252557" y="2624024"/>
            <a:chExt cx="6138255" cy="32066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57F8C3-1E1E-6905-5336-B411183706FB}"/>
                </a:ext>
              </a:extLst>
            </p:cNvPr>
            <p:cNvSpPr/>
            <p:nvPr/>
          </p:nvSpPr>
          <p:spPr>
            <a:xfrm>
              <a:off x="6252557" y="5307855"/>
              <a:ext cx="315190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DeleteCustomerByIdCommand</a:t>
              </a:r>
              <a:endParaRPr lang="en-GB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207C62-FA61-0D52-12D7-CA7FE0C32EB9}"/>
                </a:ext>
              </a:extLst>
            </p:cNvPr>
            <p:cNvSpPr/>
            <p:nvPr/>
          </p:nvSpPr>
          <p:spPr>
            <a:xfrm>
              <a:off x="6252557" y="4613932"/>
              <a:ext cx="315190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AddNewCustomerCommand</a:t>
              </a:r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71192F6-9A39-DE7D-0854-4A818474C033}"/>
                </a:ext>
              </a:extLst>
            </p:cNvPr>
            <p:cNvSpPr/>
            <p:nvPr/>
          </p:nvSpPr>
          <p:spPr>
            <a:xfrm>
              <a:off x="6252557" y="3700915"/>
              <a:ext cx="315190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GetAllCustomersQuery</a:t>
              </a:r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FC5DD7-53C5-68EB-C568-7F41C25D3B9F}"/>
                </a:ext>
              </a:extLst>
            </p:cNvPr>
            <p:cNvSpPr/>
            <p:nvPr/>
          </p:nvSpPr>
          <p:spPr>
            <a:xfrm>
              <a:off x="6252557" y="3046981"/>
              <a:ext cx="315190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GetCustomerByIdQuery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D9865E-C396-BB5D-124C-E0FAC1475F4C}"/>
                </a:ext>
              </a:extLst>
            </p:cNvPr>
            <p:cNvSpPr txBox="1"/>
            <p:nvPr/>
          </p:nvSpPr>
          <p:spPr>
            <a:xfrm>
              <a:off x="6902365" y="2624024"/>
              <a:ext cx="2196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CQRS</a:t>
              </a:r>
              <a:endParaRPr lang="en-GB" dirty="0"/>
            </a:p>
          </p:txBody>
        </p: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779F48D4-2532-08B4-97D7-111A85C1CD61}"/>
                </a:ext>
              </a:extLst>
            </p:cNvPr>
            <p:cNvSpPr/>
            <p:nvPr/>
          </p:nvSpPr>
          <p:spPr>
            <a:xfrm>
              <a:off x="9543011" y="2990579"/>
              <a:ext cx="512617" cy="122813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23192FE3-1E15-AABB-5780-AFA34329483C}"/>
                </a:ext>
              </a:extLst>
            </p:cNvPr>
            <p:cNvSpPr/>
            <p:nvPr/>
          </p:nvSpPr>
          <p:spPr>
            <a:xfrm>
              <a:off x="9543011" y="4602540"/>
              <a:ext cx="512617" cy="122813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45DEAE-FA95-8DA1-C4A5-6D0182E8EB26}"/>
                </a:ext>
              </a:extLst>
            </p:cNvPr>
            <p:cNvSpPr txBox="1"/>
            <p:nvPr/>
          </p:nvSpPr>
          <p:spPr>
            <a:xfrm>
              <a:off x="10055628" y="3429000"/>
              <a:ext cx="2196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Queries</a:t>
              </a:r>
            </a:p>
            <a:p>
              <a:r>
                <a:rPr lang="en-US" dirty="0"/>
                <a:t>(read data)</a:t>
              </a:r>
              <a:endParaRPr lang="en-GB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D3EBA7-4A4F-174F-E67D-E05DDC51565E}"/>
                </a:ext>
              </a:extLst>
            </p:cNvPr>
            <p:cNvSpPr txBox="1"/>
            <p:nvPr/>
          </p:nvSpPr>
          <p:spPr>
            <a:xfrm>
              <a:off x="10194174" y="5031939"/>
              <a:ext cx="2196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Commands</a:t>
              </a:r>
            </a:p>
            <a:p>
              <a:r>
                <a:rPr lang="en-US" dirty="0"/>
                <a:t>(handle changes)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08889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547D-C176-2001-F48A-49C7C829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7641459-87E4-2C9A-230A-E90AFFA96349}"/>
              </a:ext>
            </a:extLst>
          </p:cNvPr>
          <p:cNvSpPr txBox="1"/>
          <p:nvPr/>
        </p:nvSpPr>
        <p:spPr>
          <a:xfrm>
            <a:off x="1280160" y="630936"/>
            <a:ext cx="10208029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/>
              <a:t>ommand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000" dirty="0"/>
              <a:t>uery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dirty="0"/>
              <a:t>esponsibility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/>
              <a:t>egregation – </a:t>
            </a:r>
            <a:r>
              <a:rPr lang="en-US" sz="2000" u="sng" dirty="0"/>
              <a:t>What is it?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 command is a request to change something in the system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should: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Change state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Contain business intent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Should not return a big data object*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Should enforce business rules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Should be validated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Be consistent and transaction-friendly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 query is a request to get data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should: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NOT change state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Return simple or complex information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Optimized for fast reading and presentation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Be fast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Filter and aggregate data (denormalized data)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Data shaped for the UI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E91B8-7745-6D7C-967E-8B2AFB623BA6}"/>
              </a:ext>
            </a:extLst>
          </p:cNvPr>
          <p:cNvGrpSpPr/>
          <p:nvPr/>
        </p:nvGrpSpPr>
        <p:grpSpPr>
          <a:xfrm>
            <a:off x="6902365" y="2624024"/>
            <a:ext cx="5488447" cy="3206646"/>
            <a:chOff x="6902365" y="2624024"/>
            <a:chExt cx="5488447" cy="32066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2D1A1A-F1E8-B29D-96AE-347CE0B2B64F}"/>
                </a:ext>
              </a:extLst>
            </p:cNvPr>
            <p:cNvSpPr/>
            <p:nvPr/>
          </p:nvSpPr>
          <p:spPr>
            <a:xfrm>
              <a:off x="6910647" y="5307855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 err="1"/>
                <a:t>DeleteCustomerByIdCommand</a:t>
              </a:r>
              <a:endParaRPr lang="en-GB" sz="13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FB142F-ACE5-FB91-4465-39EA249937FB}"/>
                </a:ext>
              </a:extLst>
            </p:cNvPr>
            <p:cNvSpPr/>
            <p:nvPr/>
          </p:nvSpPr>
          <p:spPr>
            <a:xfrm>
              <a:off x="6910647" y="4613932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/>
                <a:t>AddNewCustomerCommand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7C8BE4-0462-4264-6CD0-F9EB3BD13286}"/>
                </a:ext>
              </a:extLst>
            </p:cNvPr>
            <p:cNvSpPr/>
            <p:nvPr/>
          </p:nvSpPr>
          <p:spPr>
            <a:xfrm>
              <a:off x="6910647" y="3700915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/>
                <a:t>GetAllCustomersQuery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FA79A3-BA37-1B52-2466-5039213B23DC}"/>
                </a:ext>
              </a:extLst>
            </p:cNvPr>
            <p:cNvSpPr/>
            <p:nvPr/>
          </p:nvSpPr>
          <p:spPr>
            <a:xfrm>
              <a:off x="6910647" y="3046981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/>
                <a:t>GetCustomerByIdQuery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7C33C2-70D1-1F3B-8452-CE1D61688FC6}"/>
                </a:ext>
              </a:extLst>
            </p:cNvPr>
            <p:cNvSpPr txBox="1"/>
            <p:nvPr/>
          </p:nvSpPr>
          <p:spPr>
            <a:xfrm>
              <a:off x="6902365" y="2624024"/>
              <a:ext cx="2196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CQRS</a:t>
              </a:r>
              <a:endParaRPr lang="en-GB" dirty="0"/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0FAB3172-3249-91A4-CAB0-614AF6874709}"/>
                </a:ext>
              </a:extLst>
            </p:cNvPr>
            <p:cNvSpPr/>
            <p:nvPr/>
          </p:nvSpPr>
          <p:spPr>
            <a:xfrm>
              <a:off x="9543011" y="2990579"/>
              <a:ext cx="512617" cy="122813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3AF0258A-4B14-B466-E6B4-B8211D2A9427}"/>
                </a:ext>
              </a:extLst>
            </p:cNvPr>
            <p:cNvSpPr/>
            <p:nvPr/>
          </p:nvSpPr>
          <p:spPr>
            <a:xfrm>
              <a:off x="9543011" y="4602540"/>
              <a:ext cx="512617" cy="122813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EEE5D2-7BA6-2911-8ADB-B17BF2A2AC98}"/>
                </a:ext>
              </a:extLst>
            </p:cNvPr>
            <p:cNvSpPr txBox="1"/>
            <p:nvPr/>
          </p:nvSpPr>
          <p:spPr>
            <a:xfrm>
              <a:off x="10055628" y="3429000"/>
              <a:ext cx="2196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Queries</a:t>
              </a:r>
            </a:p>
            <a:p>
              <a:r>
                <a:rPr lang="en-US" dirty="0"/>
                <a:t>(read data)</a:t>
              </a:r>
              <a:endParaRPr lang="en-GB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01DC849-B3FA-6510-A4CD-5DC712792F62}"/>
                </a:ext>
              </a:extLst>
            </p:cNvPr>
            <p:cNvSpPr txBox="1"/>
            <p:nvPr/>
          </p:nvSpPr>
          <p:spPr>
            <a:xfrm>
              <a:off x="10194174" y="5031939"/>
              <a:ext cx="2196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Commands</a:t>
              </a:r>
            </a:p>
            <a:p>
              <a:r>
                <a:rPr lang="en-US" dirty="0"/>
                <a:t>(handle changes)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23467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F4E68-B91E-519A-7359-12B38504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C29E7C5-5140-54FA-3E72-322A0AEEA523}"/>
              </a:ext>
            </a:extLst>
          </p:cNvPr>
          <p:cNvSpPr txBox="1"/>
          <p:nvPr/>
        </p:nvSpPr>
        <p:spPr>
          <a:xfrm>
            <a:off x="1280160" y="630936"/>
            <a:ext cx="1020802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/>
              <a:t>ommand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000" dirty="0"/>
              <a:t>uery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dirty="0"/>
              <a:t>esponsibility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/>
              <a:t>egregation – </a:t>
            </a:r>
            <a:r>
              <a:rPr lang="en-US" sz="2000" u="sng" dirty="0"/>
              <a:t> Light versus Full</a:t>
            </a:r>
          </a:p>
          <a:p>
            <a:endParaRPr lang="en-US" sz="2000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Light CQRS does not require: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Two Databases or separate stores (repositories) for reading </a:t>
            </a:r>
            <a:br>
              <a:rPr lang="en-US" dirty="0"/>
            </a:br>
            <a:r>
              <a:rPr lang="en-US" dirty="0"/>
              <a:t>and writing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Microservices or distributed systems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Event sourcing or Domain driven </a:t>
            </a:r>
            <a:br>
              <a:rPr lang="en-US" dirty="0"/>
            </a:br>
            <a:r>
              <a:rPr lang="en-US" dirty="0"/>
              <a:t>design (DDD) but highly recommends 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0C2C2D-FEDE-47AD-378A-75C141F5FF11}"/>
              </a:ext>
            </a:extLst>
          </p:cNvPr>
          <p:cNvGrpSpPr/>
          <p:nvPr/>
        </p:nvGrpSpPr>
        <p:grpSpPr>
          <a:xfrm>
            <a:off x="6902365" y="2624024"/>
            <a:ext cx="5488447" cy="3206646"/>
            <a:chOff x="6902365" y="2624024"/>
            <a:chExt cx="5488447" cy="32066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CD77BE-29DF-4D5E-3EFC-370B18DD8495}"/>
                </a:ext>
              </a:extLst>
            </p:cNvPr>
            <p:cNvSpPr/>
            <p:nvPr/>
          </p:nvSpPr>
          <p:spPr>
            <a:xfrm>
              <a:off x="6910647" y="5307855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300" dirty="0" err="1"/>
                <a:t>DeleteCustomerByIdCommand</a:t>
              </a:r>
              <a:endParaRPr lang="en-GB" sz="13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498D0C-5210-E221-D07A-499D2D5E8E46}"/>
                </a:ext>
              </a:extLst>
            </p:cNvPr>
            <p:cNvSpPr/>
            <p:nvPr/>
          </p:nvSpPr>
          <p:spPr>
            <a:xfrm>
              <a:off x="6910647" y="4613932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/>
                <a:t>AddNewCustomerCommand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944881-B352-484F-F23B-1A45B53A0BC7}"/>
                </a:ext>
              </a:extLst>
            </p:cNvPr>
            <p:cNvSpPr/>
            <p:nvPr/>
          </p:nvSpPr>
          <p:spPr>
            <a:xfrm>
              <a:off x="6910647" y="3700915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/>
                <a:t>GetAllCustomersQuery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40FDED0-23F5-4139-3301-0661579DC724}"/>
                </a:ext>
              </a:extLst>
            </p:cNvPr>
            <p:cNvSpPr/>
            <p:nvPr/>
          </p:nvSpPr>
          <p:spPr>
            <a:xfrm>
              <a:off x="6910647" y="3046981"/>
              <a:ext cx="2493818" cy="482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/>
                <a:t>GetCustomerByIdQuery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66911A-C927-47E9-86D5-08512FB1F065}"/>
                </a:ext>
              </a:extLst>
            </p:cNvPr>
            <p:cNvSpPr txBox="1"/>
            <p:nvPr/>
          </p:nvSpPr>
          <p:spPr>
            <a:xfrm>
              <a:off x="6902365" y="2624024"/>
              <a:ext cx="2196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CQRS</a:t>
              </a:r>
              <a:endParaRPr lang="en-GB" dirty="0"/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12537D4B-FB24-E8BF-CF13-ABCF9FD5FA18}"/>
                </a:ext>
              </a:extLst>
            </p:cNvPr>
            <p:cNvSpPr/>
            <p:nvPr/>
          </p:nvSpPr>
          <p:spPr>
            <a:xfrm>
              <a:off x="9543011" y="2990579"/>
              <a:ext cx="512617" cy="122813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7089B03E-EA09-7C98-7EEB-88ABB2056E2D}"/>
                </a:ext>
              </a:extLst>
            </p:cNvPr>
            <p:cNvSpPr/>
            <p:nvPr/>
          </p:nvSpPr>
          <p:spPr>
            <a:xfrm>
              <a:off x="9543011" y="4602540"/>
              <a:ext cx="512617" cy="122813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8B28C8-E087-500E-A867-A77647360AA3}"/>
                </a:ext>
              </a:extLst>
            </p:cNvPr>
            <p:cNvSpPr txBox="1"/>
            <p:nvPr/>
          </p:nvSpPr>
          <p:spPr>
            <a:xfrm>
              <a:off x="10055628" y="3429000"/>
              <a:ext cx="2196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Queries</a:t>
              </a:r>
            </a:p>
            <a:p>
              <a:r>
                <a:rPr lang="en-US" dirty="0"/>
                <a:t>(read data)</a:t>
              </a:r>
              <a:endParaRPr lang="en-GB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3713891-F110-75AF-32B1-E5E6BCCD596F}"/>
                </a:ext>
              </a:extLst>
            </p:cNvPr>
            <p:cNvSpPr txBox="1"/>
            <p:nvPr/>
          </p:nvSpPr>
          <p:spPr>
            <a:xfrm>
              <a:off x="10194174" y="5031939"/>
              <a:ext cx="21966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Commands</a:t>
              </a:r>
            </a:p>
            <a:p>
              <a:r>
                <a:rPr lang="en-US" dirty="0"/>
                <a:t>(handle changes)</a:t>
              </a:r>
              <a:endParaRPr lang="en-GB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78B33CF-A632-8A66-FE7E-8BE55A56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36" y="3429000"/>
            <a:ext cx="4259964" cy="3119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3702CB-DE44-7582-EB0B-7F470AF7A460}"/>
              </a:ext>
            </a:extLst>
          </p:cNvPr>
          <p:cNvSpPr txBox="1"/>
          <p:nvPr/>
        </p:nvSpPr>
        <p:spPr>
          <a:xfrm>
            <a:off x="3128388" y="6535409"/>
            <a:ext cx="4872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https://martinfowler.com/bliki/CQRS.html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16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88F2-3941-65B6-8390-DE2821DA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54D1AA0-F994-E957-6379-7975D7B33773}"/>
              </a:ext>
            </a:extLst>
          </p:cNvPr>
          <p:cNvSpPr txBox="1"/>
          <p:nvPr/>
        </p:nvSpPr>
        <p:spPr>
          <a:xfrm>
            <a:off x="1280160" y="630936"/>
            <a:ext cx="1020802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with CQRS + event sourcing</a:t>
            </a:r>
            <a:endParaRPr lang="en-US" sz="2000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EAAD39-75C8-D03A-9CCE-6F3A034C88D2}"/>
              </a:ext>
            </a:extLst>
          </p:cNvPr>
          <p:cNvSpPr/>
          <p:nvPr/>
        </p:nvSpPr>
        <p:spPr>
          <a:xfrm>
            <a:off x="1639460" y="2991195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Controller</a:t>
            </a:r>
            <a:endParaRPr lang="en-GB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1E576F85-41A2-824A-DF68-2C93FF228F05}"/>
              </a:ext>
            </a:extLst>
          </p:cNvPr>
          <p:cNvSpPr/>
          <p:nvPr/>
        </p:nvSpPr>
        <p:spPr>
          <a:xfrm>
            <a:off x="3710256" y="3277476"/>
            <a:ext cx="1136532" cy="68543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Command / query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156FE3-CC5C-B4BB-E789-CFE06A9F21B1}"/>
              </a:ext>
            </a:extLst>
          </p:cNvPr>
          <p:cNvSpPr/>
          <p:nvPr/>
        </p:nvSpPr>
        <p:spPr>
          <a:xfrm>
            <a:off x="5029667" y="2991194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 / Query Handler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6BC573-CBD4-AB4A-E867-2685E91A75B7}"/>
              </a:ext>
            </a:extLst>
          </p:cNvPr>
          <p:cNvSpPr/>
          <p:nvPr/>
        </p:nvSpPr>
        <p:spPr>
          <a:xfrm>
            <a:off x="8541794" y="299119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Repository</a:t>
            </a:r>
            <a:endParaRPr lang="en-GB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7518E00-84DA-9821-75A0-5DA9D589B442}"/>
              </a:ext>
            </a:extLst>
          </p:cNvPr>
          <p:cNvSpPr/>
          <p:nvPr/>
        </p:nvSpPr>
        <p:spPr>
          <a:xfrm>
            <a:off x="7211759" y="3429000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AB69B-0267-BC82-773E-A1A09265D1AC}"/>
              </a:ext>
            </a:extLst>
          </p:cNvPr>
          <p:cNvSpPr/>
          <p:nvPr/>
        </p:nvSpPr>
        <p:spPr>
          <a:xfrm>
            <a:off x="5029667" y="109266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&lt;Domain&gt;</a:t>
            </a:r>
            <a:br>
              <a:rPr lang="en-US" dirty="0"/>
            </a:br>
            <a:r>
              <a:rPr lang="en-US" dirty="0"/>
              <a:t>Service(s)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9DA29-06AE-FB0D-7EF0-BF2A4600E0AC}"/>
              </a:ext>
            </a:extLst>
          </p:cNvPr>
          <p:cNvSpPr/>
          <p:nvPr/>
        </p:nvSpPr>
        <p:spPr>
          <a:xfrm>
            <a:off x="5029667" y="4955769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Raise Event(s)</a:t>
            </a: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427B82F-7071-BBDD-EF29-CEF7C9BF40DB}"/>
              </a:ext>
            </a:extLst>
          </p:cNvPr>
          <p:cNvSpPr/>
          <p:nvPr/>
        </p:nvSpPr>
        <p:spPr>
          <a:xfrm rot="16200000">
            <a:off x="5665357" y="2472566"/>
            <a:ext cx="551412" cy="38977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4DBBEFC-B176-006D-8D82-5DCB25093058}"/>
              </a:ext>
            </a:extLst>
          </p:cNvPr>
          <p:cNvSpPr/>
          <p:nvPr/>
        </p:nvSpPr>
        <p:spPr>
          <a:xfrm rot="5400000">
            <a:off x="5665357" y="4419130"/>
            <a:ext cx="551412" cy="38977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2447E35F-5DE8-3B7A-5013-12A3FE3759FA}"/>
              </a:ext>
            </a:extLst>
          </p:cNvPr>
          <p:cNvSpPr/>
          <p:nvPr/>
        </p:nvSpPr>
        <p:spPr>
          <a:xfrm>
            <a:off x="2809702" y="4338313"/>
            <a:ext cx="1986741" cy="1949335"/>
          </a:xfrm>
          <a:prstGeom prst="teardrop">
            <a:avLst>
              <a:gd name="adj" fmla="val 12008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Each handler is specific to an operation – not a feature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A4FB5-8D6F-9407-1FBE-742E70BAFD9E}"/>
              </a:ext>
            </a:extLst>
          </p:cNvPr>
          <p:cNvSpPr txBox="1"/>
          <p:nvPr/>
        </p:nvSpPr>
        <p:spPr>
          <a:xfrm>
            <a:off x="1615327" y="420631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OrdersController</a:t>
            </a:r>
            <a:r>
              <a:rPr lang="en-US" sz="1000" dirty="0"/>
              <a:t> &gt; </a:t>
            </a:r>
            <a:r>
              <a:rPr lang="en-US" sz="1000" dirty="0" err="1"/>
              <a:t>BuyProduct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114569-3E17-2301-5024-D40040BEC7BB}"/>
              </a:ext>
            </a:extLst>
          </p:cNvPr>
          <p:cNvSpPr txBox="1"/>
          <p:nvPr/>
        </p:nvSpPr>
        <p:spPr>
          <a:xfrm>
            <a:off x="5029667" y="420631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BuyProductCommandHandler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6C87C-5D09-DA03-E9BB-E588B411720D}"/>
              </a:ext>
            </a:extLst>
          </p:cNvPr>
          <p:cNvSpPr txBox="1"/>
          <p:nvPr/>
        </p:nvSpPr>
        <p:spPr>
          <a:xfrm>
            <a:off x="5029666" y="6164537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raise </a:t>
            </a:r>
            <a:r>
              <a:rPr lang="en-US" sz="1000" dirty="0" err="1"/>
              <a:t>OrderPlaced</a:t>
            </a:r>
            <a:r>
              <a:rPr lang="en-US" sz="1000" dirty="0"/>
              <a:t> event</a:t>
            </a:r>
            <a:endParaRPr lang="en-GB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7F28F-3E07-ABD4-594F-13B42BF7BBF3}"/>
              </a:ext>
            </a:extLst>
          </p:cNvPr>
          <p:cNvSpPr txBox="1"/>
          <p:nvPr/>
        </p:nvSpPr>
        <p:spPr>
          <a:xfrm>
            <a:off x="8541794" y="4224616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OrderRepository</a:t>
            </a:r>
            <a:r>
              <a:rPr lang="en-US" sz="1000" dirty="0"/>
              <a:t> &gt; </a:t>
            </a:r>
            <a:r>
              <a:rPr lang="en-US" sz="1000" dirty="0" err="1"/>
              <a:t>AddOrder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C4236E-1919-B11F-D732-2EA6BF0B6C8C}"/>
              </a:ext>
            </a:extLst>
          </p:cNvPr>
          <p:cNvSpPr txBox="1"/>
          <p:nvPr/>
        </p:nvSpPr>
        <p:spPr>
          <a:xfrm>
            <a:off x="4923212" y="2268638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IdentityService</a:t>
            </a:r>
            <a:r>
              <a:rPr lang="en-US" sz="1000" dirty="0"/>
              <a:t> &gt; </a:t>
            </a:r>
            <a:r>
              <a:rPr lang="en-US" sz="1000" dirty="0" err="1"/>
              <a:t>GetUserDetails</a:t>
            </a:r>
            <a:r>
              <a:rPr lang="en-US" sz="1000" dirty="0"/>
              <a:t>(…)</a:t>
            </a:r>
            <a:endParaRPr lang="en-GB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C29B75-0EE3-A159-0278-6CA75F5F7748}"/>
              </a:ext>
            </a:extLst>
          </p:cNvPr>
          <p:cNvSpPr txBox="1"/>
          <p:nvPr/>
        </p:nvSpPr>
        <p:spPr>
          <a:xfrm>
            <a:off x="3568704" y="3853549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BuyProductCommand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137976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7C6D3-5EAE-B432-0855-A25DC936F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7FEE4AE-FD06-AB91-8D0F-A37910F8CA71}"/>
              </a:ext>
            </a:extLst>
          </p:cNvPr>
          <p:cNvSpPr txBox="1"/>
          <p:nvPr/>
        </p:nvSpPr>
        <p:spPr>
          <a:xfrm>
            <a:off x="1280160" y="630936"/>
            <a:ext cx="1020802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with CQRS + event sourcing</a:t>
            </a:r>
            <a:endParaRPr lang="en-US" sz="2000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CCC6496D-9EBA-CEA3-AC68-DAE4B2C0D3D0}"/>
              </a:ext>
            </a:extLst>
          </p:cNvPr>
          <p:cNvSpPr/>
          <p:nvPr/>
        </p:nvSpPr>
        <p:spPr>
          <a:xfrm>
            <a:off x="3710256" y="3277476"/>
            <a:ext cx="1136532" cy="68543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event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85B83-DBBB-DC99-BCDA-36CB5CE27BE0}"/>
              </a:ext>
            </a:extLst>
          </p:cNvPr>
          <p:cNvSpPr/>
          <p:nvPr/>
        </p:nvSpPr>
        <p:spPr>
          <a:xfrm>
            <a:off x="5029667" y="2991194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Handler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49718-EBD4-65BE-A5EA-0FE55E2735C4}"/>
              </a:ext>
            </a:extLst>
          </p:cNvPr>
          <p:cNvSpPr/>
          <p:nvPr/>
        </p:nvSpPr>
        <p:spPr>
          <a:xfrm>
            <a:off x="8541794" y="299119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Repository</a:t>
            </a:r>
            <a:endParaRPr lang="en-GB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900FA60-9E1C-5E2F-47A5-D407B305898C}"/>
              </a:ext>
            </a:extLst>
          </p:cNvPr>
          <p:cNvSpPr/>
          <p:nvPr/>
        </p:nvSpPr>
        <p:spPr>
          <a:xfrm>
            <a:off x="7211759" y="3429000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71A3C-178F-DD5D-BF88-3B2AAB0DACDC}"/>
              </a:ext>
            </a:extLst>
          </p:cNvPr>
          <p:cNvSpPr/>
          <p:nvPr/>
        </p:nvSpPr>
        <p:spPr>
          <a:xfrm>
            <a:off x="5029667" y="109266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&lt;Domain&gt;</a:t>
            </a:r>
            <a:br>
              <a:rPr lang="en-US" dirty="0"/>
            </a:br>
            <a:r>
              <a:rPr lang="en-US" dirty="0"/>
              <a:t>Service(s)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C2BEE-745E-C3CD-DB54-B3EF6A076B6B}"/>
              </a:ext>
            </a:extLst>
          </p:cNvPr>
          <p:cNvSpPr/>
          <p:nvPr/>
        </p:nvSpPr>
        <p:spPr>
          <a:xfrm>
            <a:off x="5029667" y="4955769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Raise Event(s)</a:t>
            </a: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58DEC65-5B22-E62C-B792-DD0926C33039}"/>
              </a:ext>
            </a:extLst>
          </p:cNvPr>
          <p:cNvSpPr/>
          <p:nvPr/>
        </p:nvSpPr>
        <p:spPr>
          <a:xfrm rot="16200000">
            <a:off x="5665357" y="2472566"/>
            <a:ext cx="551412" cy="38977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3DA2FA4-F10B-4384-8E66-E1612455344A}"/>
              </a:ext>
            </a:extLst>
          </p:cNvPr>
          <p:cNvSpPr/>
          <p:nvPr/>
        </p:nvSpPr>
        <p:spPr>
          <a:xfrm rot="5400000">
            <a:off x="5665357" y="4419130"/>
            <a:ext cx="551412" cy="38977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74178-1EE9-4726-0E9E-3D1FD8529294}"/>
              </a:ext>
            </a:extLst>
          </p:cNvPr>
          <p:cNvSpPr/>
          <p:nvPr/>
        </p:nvSpPr>
        <p:spPr>
          <a:xfrm>
            <a:off x="1450812" y="2991192"/>
            <a:ext cx="1822792" cy="1233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32F7F-8A79-122F-753E-C853A5A2F1C4}"/>
              </a:ext>
            </a:extLst>
          </p:cNvPr>
          <p:cNvSpPr txBox="1"/>
          <p:nvPr/>
        </p:nvSpPr>
        <p:spPr>
          <a:xfrm>
            <a:off x="3444256" y="3945509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OrderPlaced</a:t>
            </a:r>
            <a:r>
              <a:rPr lang="en-US" sz="1000" dirty="0"/>
              <a:t> event</a:t>
            </a:r>
            <a:endParaRPr lang="en-GB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BF7E47-A117-553F-427C-0C9DEC3306DB}"/>
              </a:ext>
            </a:extLst>
          </p:cNvPr>
          <p:cNvSpPr txBox="1"/>
          <p:nvPr/>
        </p:nvSpPr>
        <p:spPr>
          <a:xfrm>
            <a:off x="5200319" y="4164366"/>
            <a:ext cx="2921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OrderPlacedEventHandler</a:t>
            </a:r>
            <a:br>
              <a:rPr lang="en-US" sz="1000" dirty="0"/>
            </a:br>
            <a:r>
              <a:rPr lang="en-US" sz="1000" dirty="0"/>
              <a:t>	- processes payment</a:t>
            </a:r>
            <a:endParaRPr lang="en-GB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C4B87-0AAF-64F3-FA0F-91ED3DCEA72D}"/>
              </a:ext>
            </a:extLst>
          </p:cNvPr>
          <p:cNvSpPr txBox="1"/>
          <p:nvPr/>
        </p:nvSpPr>
        <p:spPr>
          <a:xfrm>
            <a:off x="5029666" y="6164537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raise </a:t>
            </a:r>
            <a:r>
              <a:rPr lang="en-US" sz="1000" dirty="0" err="1"/>
              <a:t>OrderPaid</a:t>
            </a:r>
            <a:r>
              <a:rPr lang="en-US" sz="1000" dirty="0"/>
              <a:t> event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32286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0247-F699-5072-E54A-F36CA34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2833E29-C2C4-085A-015F-883DDD0E9262}"/>
              </a:ext>
            </a:extLst>
          </p:cNvPr>
          <p:cNvSpPr txBox="1"/>
          <p:nvPr/>
        </p:nvSpPr>
        <p:spPr>
          <a:xfrm>
            <a:off x="1280160" y="630936"/>
            <a:ext cx="1020802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 with CQRS + event sourcing</a:t>
            </a:r>
            <a:endParaRPr lang="en-US" sz="2000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D7A36AB-9D49-F3F5-FD7C-167A655B245D}"/>
              </a:ext>
            </a:extLst>
          </p:cNvPr>
          <p:cNvSpPr/>
          <p:nvPr/>
        </p:nvSpPr>
        <p:spPr>
          <a:xfrm>
            <a:off x="3710256" y="3277476"/>
            <a:ext cx="1136532" cy="68543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event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08DADA-6D49-EA31-A7ED-1F7746BFB893}"/>
              </a:ext>
            </a:extLst>
          </p:cNvPr>
          <p:cNvSpPr/>
          <p:nvPr/>
        </p:nvSpPr>
        <p:spPr>
          <a:xfrm>
            <a:off x="5029667" y="2991194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 Handler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1BCB7C-5FF1-732D-F5BD-25288C299B58}"/>
              </a:ext>
            </a:extLst>
          </p:cNvPr>
          <p:cNvSpPr/>
          <p:nvPr/>
        </p:nvSpPr>
        <p:spPr>
          <a:xfrm>
            <a:off x="8541794" y="299119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&lt;Feature&gt;</a:t>
            </a:r>
            <a:br>
              <a:rPr lang="en-US" dirty="0"/>
            </a:br>
            <a:r>
              <a:rPr lang="en-US" dirty="0"/>
              <a:t>Repository</a:t>
            </a:r>
            <a:endParaRPr lang="en-GB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8EEF69A-75C3-98AE-2B77-55D2C245B338}"/>
              </a:ext>
            </a:extLst>
          </p:cNvPr>
          <p:cNvSpPr/>
          <p:nvPr/>
        </p:nvSpPr>
        <p:spPr>
          <a:xfrm>
            <a:off x="7211759" y="3429000"/>
            <a:ext cx="964277" cy="38238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81E07-BEB5-3572-5542-2AF858B1B37D}"/>
              </a:ext>
            </a:extLst>
          </p:cNvPr>
          <p:cNvSpPr/>
          <p:nvPr/>
        </p:nvSpPr>
        <p:spPr>
          <a:xfrm>
            <a:off x="5029667" y="1092663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&lt;Domain&gt;</a:t>
            </a:r>
            <a:br>
              <a:rPr lang="en-US" dirty="0"/>
            </a:br>
            <a:r>
              <a:rPr lang="en-US" dirty="0"/>
              <a:t>Service(s)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CC8ACB-1394-CA5B-9DAE-4D7D299347F8}"/>
              </a:ext>
            </a:extLst>
          </p:cNvPr>
          <p:cNvSpPr/>
          <p:nvPr/>
        </p:nvSpPr>
        <p:spPr>
          <a:xfrm>
            <a:off x="5029667" y="4955769"/>
            <a:ext cx="1822792" cy="1233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Raise Event(s)</a:t>
            </a: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1349821-607A-B9CC-3B27-F07027933E18}"/>
              </a:ext>
            </a:extLst>
          </p:cNvPr>
          <p:cNvSpPr/>
          <p:nvPr/>
        </p:nvSpPr>
        <p:spPr>
          <a:xfrm rot="16200000">
            <a:off x="5665357" y="2472566"/>
            <a:ext cx="551412" cy="38977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5FD2EC6-F601-986A-D83D-8659DF0B36F5}"/>
              </a:ext>
            </a:extLst>
          </p:cNvPr>
          <p:cNvSpPr/>
          <p:nvPr/>
        </p:nvSpPr>
        <p:spPr>
          <a:xfrm rot="5400000">
            <a:off x="5665357" y="4419130"/>
            <a:ext cx="551412" cy="38977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629FCC-32AE-ABC5-61B3-31B51AA6A540}"/>
              </a:ext>
            </a:extLst>
          </p:cNvPr>
          <p:cNvSpPr/>
          <p:nvPr/>
        </p:nvSpPr>
        <p:spPr>
          <a:xfrm>
            <a:off x="1450812" y="2991192"/>
            <a:ext cx="1822792" cy="12334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B46984-853A-45E0-0604-ADDD3CC4DB0C}"/>
              </a:ext>
            </a:extLst>
          </p:cNvPr>
          <p:cNvSpPr txBox="1"/>
          <p:nvPr/>
        </p:nvSpPr>
        <p:spPr>
          <a:xfrm>
            <a:off x="3444256" y="3945509"/>
            <a:ext cx="2921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OrderPaid</a:t>
            </a:r>
            <a:r>
              <a:rPr lang="en-US" sz="1000" dirty="0"/>
              <a:t> event</a:t>
            </a:r>
            <a:endParaRPr lang="en-GB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1C3D33-D531-6B8A-A320-98035573C3A5}"/>
              </a:ext>
            </a:extLst>
          </p:cNvPr>
          <p:cNvSpPr txBox="1"/>
          <p:nvPr/>
        </p:nvSpPr>
        <p:spPr>
          <a:xfrm>
            <a:off x="5200319" y="4164366"/>
            <a:ext cx="2921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OrderPaidEventHandler</a:t>
            </a:r>
            <a:br>
              <a:rPr lang="en-US" sz="1000" dirty="0"/>
            </a:br>
            <a:r>
              <a:rPr lang="en-US" sz="1000" dirty="0"/>
              <a:t>	- checks for fraud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574091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67E8-E214-2EF8-2156-60C5560C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52DC458-1C1F-26A2-111D-60498E2A0EE4}"/>
              </a:ext>
            </a:extLst>
          </p:cNvPr>
          <p:cNvSpPr txBox="1"/>
          <p:nvPr/>
        </p:nvSpPr>
        <p:spPr>
          <a:xfrm>
            <a:off x="1280160" y="630936"/>
            <a:ext cx="1020802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/>
              <a:t>ommand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000" dirty="0"/>
              <a:t>uery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dirty="0"/>
              <a:t>esponsibility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/>
              <a:t>egregation – </a:t>
            </a:r>
            <a:r>
              <a:rPr lang="en-US" sz="2000" u="sng" dirty="0"/>
              <a:t> Mediator</a:t>
            </a:r>
          </a:p>
          <a:p>
            <a:endParaRPr lang="en-US" sz="2000" dirty="0"/>
          </a:p>
          <a:p>
            <a:r>
              <a:rPr lang="en-US" b="1" dirty="0"/>
              <a:t>Mediator Pattern</a:t>
            </a:r>
          </a:p>
          <a:p>
            <a:pPr marL="285750" indent="-285750">
              <a:buFontTx/>
              <a:buChar char="-"/>
            </a:pPr>
            <a:r>
              <a:rPr lang="en-US" dirty="0"/>
              <a:t>Another design pattern – an object in between 2 components that handles the communication between them.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Used for:</a:t>
            </a:r>
          </a:p>
          <a:p>
            <a:pPr marL="285750" indent="-285750">
              <a:buFontTx/>
              <a:buChar char="-"/>
            </a:pPr>
            <a:r>
              <a:rPr lang="en-US" dirty="0"/>
              <a:t>Decoupling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Cleaner architecture</a:t>
            </a:r>
          </a:p>
          <a:p>
            <a:pPr marL="285750" indent="-285750">
              <a:buFontTx/>
              <a:buChar char="-"/>
            </a:pPr>
            <a:r>
              <a:rPr lang="en-US" dirty="0"/>
              <a:t>Centralized pipeline behavior</a:t>
            </a:r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pic>
        <p:nvPicPr>
          <p:cNvPr id="1026" name="Picture 2" descr="Mediator Pattern - Spring Framework Guru">
            <a:extLst>
              <a:ext uri="{FF2B5EF4-FFF2-40B4-BE49-F238E27FC236}">
                <a16:creationId xmlns:a16="http://schemas.microsoft.com/office/drawing/2014/main" id="{95752464-21E6-0EC6-EFFF-037DD4DB2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508" y="3731514"/>
            <a:ext cx="697230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309165-E592-803E-DCFC-295A178E902C}"/>
              </a:ext>
            </a:extLst>
          </p:cNvPr>
          <p:cNvSpPr txBox="1"/>
          <p:nvPr/>
        </p:nvSpPr>
        <p:spPr>
          <a:xfrm>
            <a:off x="1591888" y="6429894"/>
            <a:ext cx="836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https://springframework.guru/gang-of-four-design-patterns/mediator-pattern/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9481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AAC1-AA82-67EA-FEC4-E16C085B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History of Weighing Scales: From Ancient Egypt to Modern Digital Scales">
            <a:extLst>
              <a:ext uri="{FF2B5EF4-FFF2-40B4-BE49-F238E27FC236}">
                <a16:creationId xmlns:a16="http://schemas.microsoft.com/office/drawing/2014/main" id="{3FB2E03F-9A03-828C-9BF7-A3A96C2CA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349" y="314152"/>
            <a:ext cx="6096000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91D28E-831C-8F90-A5CE-E3357D5C87DC}"/>
              </a:ext>
            </a:extLst>
          </p:cNvPr>
          <p:cNvSpPr txBox="1"/>
          <p:nvPr/>
        </p:nvSpPr>
        <p:spPr>
          <a:xfrm>
            <a:off x="8055034" y="743989"/>
            <a:ext cx="37365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GB" dirty="0"/>
              <a:t>More boilerplate code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Not intuitive to every developer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Higher development cost (more code, more unit tests, etc)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Overkill in simple projects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Requires a disciplined team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Can still loop if the event sourcing logic has bugs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9DAEB-87F0-812C-935B-1F06409C2469}"/>
              </a:ext>
            </a:extLst>
          </p:cNvPr>
          <p:cNvSpPr txBox="1"/>
          <p:nvPr/>
        </p:nvSpPr>
        <p:spPr>
          <a:xfrm>
            <a:off x="1992283" y="743989"/>
            <a:ext cx="37767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GB" dirty="0"/>
              <a:t>Clear separation of concerns and cleaner business logic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Makes it easier to implement DDD and event sourcing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Faster and more flexible for reading operations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Scalability and maintainability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Easy to work with large teams and/or complex domains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Easier to deal with circular dependencies</a:t>
            </a:r>
          </a:p>
        </p:txBody>
      </p:sp>
    </p:spTree>
    <p:extLst>
      <p:ext uri="{BB962C8B-B14F-4D97-AF65-F5344CB8AC3E}">
        <p14:creationId xmlns:p14="http://schemas.microsoft.com/office/powerpoint/2010/main" val="1581571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4A2E-147F-3970-B18D-B0CA3BE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8A142AB-64BB-8A46-3434-973B1CB22F96}"/>
              </a:ext>
            </a:extLst>
          </p:cNvPr>
          <p:cNvSpPr txBox="1"/>
          <p:nvPr/>
        </p:nvSpPr>
        <p:spPr>
          <a:xfrm>
            <a:off x="1280160" y="630936"/>
            <a:ext cx="1020802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000" dirty="0"/>
              <a:t>ommand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2000" dirty="0"/>
              <a:t>uery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000" dirty="0"/>
              <a:t>esponsibility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000" dirty="0"/>
              <a:t>egregation – </a:t>
            </a:r>
            <a:r>
              <a:rPr lang="en-US" sz="2000" u="sng" dirty="0"/>
              <a:t> when to use it?</a:t>
            </a:r>
          </a:p>
          <a:p>
            <a:endParaRPr lang="en-US" sz="2000" u="sng" dirty="0"/>
          </a:p>
          <a:p>
            <a:pPr marL="285750" indent="-285750">
              <a:buFontTx/>
              <a:buChar char="-"/>
            </a:pPr>
            <a:r>
              <a:rPr lang="en-US" dirty="0"/>
              <a:t>When not to used it: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en-US" dirty="0"/>
              <a:t>By default</a:t>
            </a:r>
          </a:p>
          <a:p>
            <a:pPr marL="742950" lvl="1" indent="-285750">
              <a:buFont typeface="Wingdings" panose="05000000000000000000" pitchFamily="2" charset="2"/>
              <a:buChar char=""/>
            </a:pPr>
            <a:endParaRPr lang="en-US" dirty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en-US" dirty="0"/>
              <a:t>Simple CRUD application</a:t>
            </a:r>
          </a:p>
          <a:p>
            <a:pPr marL="742950" lvl="1" indent="-285750">
              <a:buFont typeface="Wingdings" panose="05000000000000000000" pitchFamily="2" charset="2"/>
              <a:buChar char=""/>
            </a:pPr>
            <a:endParaRPr lang="en-US" u="sng" dirty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en-US" u="sng" dirty="0"/>
              <a:t>Not</a:t>
            </a:r>
            <a:r>
              <a:rPr lang="en-US" dirty="0"/>
              <a:t> a silver bullet or a one size fits all solution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Use it when: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en-US" dirty="0"/>
              <a:t>System is rather complex</a:t>
            </a: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endParaRPr lang="en-US" dirty="0"/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en-US" dirty="0"/>
              <a:t>You require high-performance especially on read operations</a:t>
            </a: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endParaRPr lang="en-US" dirty="0"/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en-US" dirty="0"/>
              <a:t>Multiple views for the same data</a:t>
            </a: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endParaRPr lang="en-US" dirty="0"/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en-US" dirty="0"/>
              <a:t>System requires consistency everywhere</a:t>
            </a:r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endParaRPr lang="en-US" dirty="0"/>
          </a:p>
          <a:p>
            <a:pPr marL="742950" lvl="1" indent="-285750">
              <a:buClr>
                <a:srgbClr val="00B050"/>
              </a:buClr>
              <a:buFont typeface="Wingdings" panose="05000000000000000000" pitchFamily="2" charset="2"/>
              <a:buChar char=""/>
            </a:pPr>
            <a:r>
              <a:rPr lang="en-US" dirty="0"/>
              <a:t>Advantages outweigh the disadvantages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085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6C803B-35BB-D06B-6C2F-6BDC4CA68B65}"/>
              </a:ext>
            </a:extLst>
          </p:cNvPr>
          <p:cNvSpPr txBox="1"/>
          <p:nvPr/>
        </p:nvSpPr>
        <p:spPr>
          <a:xfrm>
            <a:off x="1280160" y="630936"/>
            <a:ext cx="1020802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2000" u="sng" dirty="0"/>
          </a:p>
          <a:p>
            <a:endParaRPr lang="en-US" sz="2000" u="sng" dirty="0"/>
          </a:p>
          <a:p>
            <a:r>
              <a:rPr lang="en-US" dirty="0"/>
              <a:t>Credit: </a:t>
            </a:r>
          </a:p>
          <a:p>
            <a:endParaRPr lang="en-US" dirty="0"/>
          </a:p>
          <a:p>
            <a:r>
              <a:rPr lang="en-US" dirty="0"/>
              <a:t>https://learn.microsoft.com/en-us/azure/architecture/patterns/cqrs</a:t>
            </a:r>
          </a:p>
          <a:p>
            <a:endParaRPr lang="en-US" dirty="0"/>
          </a:p>
          <a:p>
            <a:r>
              <a:rPr lang="en-US" dirty="0"/>
              <a:t>https://springframework.guru/gang-of-four-design-patterns/mediator-pattern/</a:t>
            </a:r>
          </a:p>
          <a:p>
            <a:endParaRPr lang="en-GB" dirty="0"/>
          </a:p>
          <a:p>
            <a:r>
              <a:rPr lang="en-GB" dirty="0"/>
              <a:t>https://martinfowler.com/bliki/CQRS.html</a:t>
            </a:r>
          </a:p>
          <a:p>
            <a:endParaRPr lang="en-GB" dirty="0"/>
          </a:p>
          <a:p>
            <a:r>
              <a:rPr lang="en-GB" dirty="0"/>
              <a:t>https://github.com/keyvanakbary/cqrs-documents</a:t>
            </a:r>
          </a:p>
          <a:p>
            <a:endParaRPr lang="en-GB" dirty="0"/>
          </a:p>
          <a:p>
            <a:r>
              <a:rPr lang="en-GB" dirty="0"/>
              <a:t>https://docs.aws.amazon.com/prescriptive-guidance/latest/modernization-data-persistence/cqrs-pattern.html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4050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2A983-F221-4B74-DB4F-7FD93587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1B6E9F-C59B-DAE1-1928-55C2AD919ED7}"/>
              </a:ext>
            </a:extLst>
          </p:cNvPr>
          <p:cNvSpPr txBox="1"/>
          <p:nvPr/>
        </p:nvSpPr>
        <p:spPr>
          <a:xfrm>
            <a:off x="1280160" y="630936"/>
            <a:ext cx="10208029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QUIZ &amp; Q&amp;A</a:t>
            </a:r>
            <a:endParaRPr lang="en-US" sz="2000" u="sng" dirty="0"/>
          </a:p>
          <a:p>
            <a:endParaRPr lang="en-US" sz="2000" u="sng" dirty="0"/>
          </a:p>
          <a:p>
            <a:pPr marL="285750" indent="-285750">
              <a:buFontTx/>
              <a:buChar char="-"/>
            </a:pPr>
            <a:r>
              <a:rPr lang="en-GB" dirty="0"/>
              <a:t>What is/are the design pattern(s) that are commonly in use behind CQRS and event sourcing?</a:t>
            </a:r>
            <a:br>
              <a:rPr lang="en-GB" dirty="0"/>
            </a:br>
            <a:r>
              <a:rPr lang="en-GB" dirty="0"/>
              <a:t>   A) Ports and adapters</a:t>
            </a:r>
            <a:br>
              <a:rPr lang="en-GB" dirty="0"/>
            </a:br>
            <a:r>
              <a:rPr lang="en-GB" dirty="0"/>
              <a:t>   B) Mediator</a:t>
            </a:r>
            <a:br>
              <a:rPr lang="en-GB" dirty="0"/>
            </a:br>
            <a:r>
              <a:rPr lang="en-GB" dirty="0"/>
              <a:t>   C) Command query responsibility segregation</a:t>
            </a:r>
          </a:p>
          <a:p>
            <a:r>
              <a:rPr lang="en-GB" dirty="0"/>
              <a:t>         D) Singletons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What is an event? </a:t>
            </a:r>
          </a:p>
          <a:p>
            <a:pPr lvl="1"/>
            <a:r>
              <a:rPr lang="en-US" dirty="0"/>
              <a:t>A) A request to change system state</a:t>
            </a:r>
          </a:p>
          <a:p>
            <a:pPr lvl="1"/>
            <a:r>
              <a:rPr lang="en-US" dirty="0"/>
              <a:t>B) A database transaction</a:t>
            </a:r>
          </a:p>
          <a:p>
            <a:pPr lvl="1"/>
            <a:r>
              <a:rPr lang="en-US" dirty="0"/>
              <a:t>C) A fact that something already happened</a:t>
            </a:r>
          </a:p>
          <a:p>
            <a:pPr lvl="1"/>
            <a:r>
              <a:rPr lang="en-US" dirty="0"/>
              <a:t>D) A function call between services</a:t>
            </a: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Given a brand-new project with 4 developers to create a hotel room-booking application - which approach should you apply?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Do you agree/disagree with the following statement “Using CQRS we no longer have a need for services”?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Why combine CQRS and event sourcing?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956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3024-37C4-319C-C664-2E7C6323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5AD9CA-47FF-0D64-75E0-6379517DF5E9}"/>
              </a:ext>
            </a:extLst>
          </p:cNvPr>
          <p:cNvSpPr txBox="1"/>
          <p:nvPr/>
        </p:nvSpPr>
        <p:spPr>
          <a:xfrm>
            <a:off x="1280160" y="630936"/>
            <a:ext cx="10208029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QUIZ &amp; Q&amp;A - answers</a:t>
            </a:r>
            <a:endParaRPr lang="en-US" sz="2000" u="sng" dirty="0"/>
          </a:p>
          <a:p>
            <a:endParaRPr lang="en-US" sz="2000" u="sng" dirty="0"/>
          </a:p>
          <a:p>
            <a:pPr marL="285750" indent="-285750">
              <a:buFontTx/>
              <a:buChar char="-"/>
            </a:pPr>
            <a:r>
              <a:rPr lang="en-GB" dirty="0"/>
              <a:t>What is/are the design pattern(s) that are commonly in use behind CQRS and event sourcing?</a:t>
            </a:r>
            <a:br>
              <a:rPr lang="en-GB" dirty="0"/>
            </a:br>
            <a:r>
              <a:rPr lang="en-GB" dirty="0"/>
              <a:t>   </a:t>
            </a:r>
            <a:r>
              <a:rPr lang="en-GB" dirty="0">
                <a:highlight>
                  <a:srgbClr val="00FF00"/>
                </a:highlight>
              </a:rPr>
              <a:t>B) Mediator    C) Command query responsibility segregation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What is an event? </a:t>
            </a:r>
            <a:r>
              <a:rPr lang="en-US" dirty="0">
                <a:highlight>
                  <a:srgbClr val="00FF00"/>
                </a:highlight>
              </a:rPr>
              <a:t>C) A fact that something already happened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Given a brand-new project with 4 developers to create a hotel room-booking application - which approach should you apply? </a:t>
            </a:r>
            <a:r>
              <a:rPr lang="en-GB" dirty="0">
                <a:highlight>
                  <a:srgbClr val="00FF00"/>
                </a:highlight>
              </a:rPr>
              <a:t>Simple layered CRUD (small team + faster to implement and maintain in the beginning)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Do you agree/disagree with the following statement “Using CQRS we no longer have a need for services”? </a:t>
            </a:r>
            <a:r>
              <a:rPr lang="en-GB" dirty="0">
                <a:highlight>
                  <a:srgbClr val="00FF00"/>
                </a:highlight>
              </a:rPr>
              <a:t>No. You may still need domain and application services to handle common logic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Why combine CQRS and event sourcing? </a:t>
            </a:r>
            <a:r>
              <a:rPr lang="en-GB" dirty="0">
                <a:highlight>
                  <a:srgbClr val="00FF00"/>
                </a:highlight>
              </a:rPr>
              <a:t>CQRS separates intent (commands) from observability (queries). Events give you a audit history, traceability and replicability. Both help decoupling components.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541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21ebe56-2643-4654-8529-14ee930a2237}" enabled="1" method="Privileged" siteId="{c317fa72-b393-44ea-a87c-ea272e8d96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344</TotalTime>
  <Words>1205</Words>
  <Application>Microsoft Office PowerPoint</Application>
  <PresentationFormat>Widescreen</PresentationFormat>
  <Paragraphs>316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Corbel</vt:lpstr>
      <vt:lpstr>Wingdings</vt:lpstr>
      <vt:lpstr>Parallax</vt:lpstr>
      <vt:lpstr>Improve  your application scalability with  CQRS and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Miguel Branquinho</dc:creator>
  <cp:lastModifiedBy>Jorge Miguel Branquinho</cp:lastModifiedBy>
  <cp:revision>12</cp:revision>
  <dcterms:created xsi:type="dcterms:W3CDTF">2026-04-12T13:34:19Z</dcterms:created>
  <dcterms:modified xsi:type="dcterms:W3CDTF">2026-04-18T14:40:48Z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